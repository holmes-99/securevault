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188720"/>
            <a:ext cx="4754880" cy="4754880"/>
          </a:xfrm>
          <a:prstGeom prst="ellipse">
            <a:avLst/>
          </a:prstGeom>
          <a:solidFill>
            <a:srgbClr val="F7C6D9">
              <a:alpha val="75000"/>
            </a:srgbClr>
          </a:solidFill>
          <a:ln w="12700">
            <a:solidFill>
              <a:srgbClr val="F7C6D9">
                <a:alpha val="7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474720" cy="3474720"/>
          </a:xfrm>
          <a:prstGeom prst="ellipse">
            <a:avLst/>
          </a:prstGeom>
          <a:solidFill>
            <a:srgbClr val="CDEFD7">
              <a:alpha val="75000"/>
            </a:srgbClr>
          </a:solidFill>
          <a:ln w="12700">
            <a:solidFill>
              <a:srgbClr val="CDEFD7">
                <a:alpha val="75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SecureVault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88036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7C6D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Multi-user encrypted document exchange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F7C6D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a server we do not trust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0749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8D3D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Shatha Abualrob 1231279   ·   Lara Daifallah 1230239   ·   Razan Shalabi 1230874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4864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A9A2A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ENCS4320 Applied Cryptography  ·  Birzeit University</a:t>
            </a:r>
            <a:endParaRPr lang="en-US" sz="1400" dirty="0"/>
          </a:p>
        </p:txBody>
      </p:sp>
      <p:pic>
        <p:nvPicPr>
          <p:cNvPr id="8" name="Image 0" descr="C:\Users\rwtc\AppData\Local\Temp\claude\C--Users-rwtc-OneDrive-Desktop-taraf-al-khait\259a8f67-0c60-48d8-b28e-79f9054fef07\scratchpad\deck39\assets\layla_in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3246120"/>
            <a:ext cx="1936830" cy="1828800"/>
          </a:xfrm>
          <a:prstGeom prst="rect">
            <a:avLst/>
          </a:prstGeom>
        </p:spPr>
      </p:pic>
      <p:pic>
        <p:nvPicPr>
          <p:cNvPr id="9" name="Image 1" descr="C:\Users\rwtc\AppData\Local\Temp\claude\C--Users-rwtc-OneDrive-Desktop-taraf-al-khait\259a8f67-0c60-48d8-b28e-79f9054fef07\scratchpad\deck39\assets\attacker_int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148840"/>
            <a:ext cx="1783882" cy="1463040"/>
          </a:xfrm>
          <a:prstGeom prst="rect">
            <a:avLst/>
          </a:prstGeom>
        </p:spPr>
      </p:pic>
      <p:pic>
        <p:nvPicPr>
          <p:cNvPr id="10" name="Image 2" descr="C:\Users\rwtc\AppData\Local\Temp\claude\C--Users-rwtc-OneDrive-Desktop-taraf-al-khait\259a8f67-0c60-48d8-b28e-79f9054fef07\scratchpad\deck39\assets\omar_intr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4160520"/>
            <a:ext cx="2184613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Meet the characters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roles follow one document through the whole system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25880" y="1828800"/>
            <a:ext cx="1965960" cy="1965960"/>
          </a:xfrm>
          <a:prstGeom prst="ellipse">
            <a:avLst/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pic>
        <p:nvPicPr>
          <p:cNvPr id="7" name="Image 0" descr="C:\Users\rwtc\AppData\Local\Temp\claude\C--Users-rwtc-OneDrive-Desktop-taraf-al-khait\259a8f67-0c60-48d8-b28e-79f9054fef07\scratchpad\deck39\assets\layla_lap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1328" y="1874520"/>
            <a:ext cx="1363287" cy="1874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39776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Layla · sender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52628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Creates and uploads documents.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Shares them with selected users.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343400" y="169164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120640" y="1828800"/>
            <a:ext cx="1965960" cy="1965960"/>
          </a:xfrm>
          <a:prstGeom prst="ellipse">
            <a:avLst/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pic>
        <p:nvPicPr>
          <p:cNvPr id="12" name="Image 1" descr="C:\Users\rwtc\AppData\Local\Temp\claude\C--Users-rwtc-OneDrive-Desktop-taraf-al-khait\259a8f67-0c60-48d8-b28e-79f9054fef07\scratchpad\deck39\assets\attacker_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1874520"/>
            <a:ext cx="1634581" cy="18745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7720" y="39776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Attacker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452628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Reads and modifies network traffic.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Replays old data.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May steal the entire database.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138160" y="169164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915400" y="1828800"/>
            <a:ext cx="1965960" cy="1965960"/>
          </a:xfrm>
          <a:prstGeom prst="ellipse">
            <a:avLst/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pic>
        <p:nvPicPr>
          <p:cNvPr id="17" name="Image 2" descr="C:\Users\rwtc\AppData\Local\Temp\claude\C--Users-rwtc-OneDrive-Desktop-taraf-al-khait\259a8f67-0c60-48d8-b28e-79f9054fef07\scratchpad\deck39\assets\omar_lapt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0848" y="1874520"/>
            <a:ext cx="1341568" cy="18745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12480" y="39776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Omar · recipient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458200" y="452628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Receives key grants.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Verifies Layla's identity.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Decrypts only after every check passes.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Layla wants to share thesis-draft.pdf with Omar through a server neither of them trusts</a:t>
            </a:r>
            <a:endParaRPr lang="en-US" sz="1700" dirty="0"/>
          </a:p>
        </p:txBody>
      </p:sp>
      <p:pic>
        <p:nvPicPr>
          <p:cNvPr id="5" name="Image 0" descr="C:\Users\rwtc\AppData\Local\Temp\claude\C--Users-rwtc-OneDrive-Desktop-taraf-al-khait\259a8f67-0c60-48d8-b28e-79f9054fef07\scratchpad\deck39\assets\layla_in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2227355" cy="2103120"/>
          </a:xfrm>
          <a:prstGeom prst="rect">
            <a:avLst/>
          </a:prstGeom>
        </p:spPr>
      </p:pic>
      <p:pic>
        <p:nvPicPr>
          <p:cNvPr id="6" name="Image 1" descr="C:\Users\rwtc\AppData\Local\Temp\claude\C--Users-rwtc-OneDrive-Desktop-taraf-al-khait\259a8f67-0c60-48d8-b28e-79f9054fef07\scratchpad\deck39\assets\omar_th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691640"/>
            <a:ext cx="1646822" cy="2286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154680" y="1783080"/>
            <a:ext cx="5897880" cy="2148840"/>
          </a:xfrm>
          <a:prstGeom prst="roundRect">
            <a:avLst>
              <a:gd name="adj" fmla="val 5106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3429000" y="19659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server stores everything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3429000" y="256032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may see usernames, file sizes, timestamps and encrypted bytes, but it must never learn the document's plaintext.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343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the system must guarantee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8640" y="4846320"/>
            <a:ext cx="1463040" cy="731520"/>
          </a:xfrm>
          <a:prstGeom prst="roundRect">
            <a:avLst>
              <a:gd name="adj" fmla="val 15000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4846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Confidentiality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2103120" y="4846320"/>
            <a:ext cx="1463040" cy="731520"/>
          </a:xfrm>
          <a:prstGeom prst="roundRect">
            <a:avLst>
              <a:gd name="adj" fmla="val 15000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148840" y="4846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Integrity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3657600" y="4846320"/>
            <a:ext cx="1463040" cy="731520"/>
          </a:xfrm>
          <a:prstGeom prst="roundRect">
            <a:avLst>
              <a:gd name="adj" fmla="val 15000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703320" y="4846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Origin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5212080" y="4846320"/>
            <a:ext cx="1463040" cy="731520"/>
          </a:xfrm>
          <a:prstGeom prst="roundRect">
            <a:avLst>
              <a:gd name="adj" fmla="val 15000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257800" y="4846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Non-repudiation</a:t>
            </a:r>
            <a:endParaRPr lang="en-US" sz="1450" dirty="0"/>
          </a:p>
        </p:txBody>
      </p:sp>
      <p:sp>
        <p:nvSpPr>
          <p:cNvPr id="19" name="Shape 15"/>
          <p:cNvSpPr/>
          <p:nvPr/>
        </p:nvSpPr>
        <p:spPr>
          <a:xfrm>
            <a:off x="6766560" y="4846320"/>
            <a:ext cx="1463040" cy="731520"/>
          </a:xfrm>
          <a:prstGeom prst="roundRect">
            <a:avLst>
              <a:gd name="adj" fmla="val 15000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12280" y="4846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Freshness</a:t>
            </a:r>
            <a:endParaRPr lang="en-US" sz="1450" dirty="0"/>
          </a:p>
        </p:txBody>
      </p:sp>
      <p:sp>
        <p:nvSpPr>
          <p:cNvPr id="21" name="Shape 17"/>
          <p:cNvSpPr/>
          <p:nvPr/>
        </p:nvSpPr>
        <p:spPr>
          <a:xfrm>
            <a:off x="8321040" y="4846320"/>
            <a:ext cx="1463040" cy="731520"/>
          </a:xfrm>
          <a:prstGeom prst="roundRect">
            <a:avLst>
              <a:gd name="adj" fmla="val 15000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366760" y="4846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Credential protection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9875520" y="4846320"/>
            <a:ext cx="1463040" cy="731520"/>
          </a:xfrm>
          <a:prstGeom prst="roundRect">
            <a:avLst>
              <a:gd name="adj" fmla="val 15000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921240" y="4846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Metadata binding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cryptography happens on the client; the server stores opaque bytes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Client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6032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encrypt · decrypt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sign · verify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derivation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private keys in memory only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89120" y="173736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1920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Attacker proxy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56032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demo-only MWITM proxy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flip · rename · replay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swapkey · resend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1737360"/>
            <a:ext cx="3383280" cy="2743200"/>
          </a:xfrm>
          <a:prstGeom prst="roundRect">
            <a:avLst>
              <a:gd name="adj" fmla="val 4000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1920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Server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2560320"/>
            <a:ext cx="2834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stores ciphertext + grants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verifies signed requests</a:t>
            </a:r>
            <a:endParaRPr lang="en-US" sz="17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checks time + nonce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3959352" y="3108960"/>
            <a:ext cx="411480" cy="0"/>
          </a:xfrm>
          <a:prstGeom prst="line">
            <a:avLst/>
          </a:prstGeom>
          <a:noFill/>
          <a:ln w="2540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99832" y="3108960"/>
            <a:ext cx="411480" cy="0"/>
          </a:xfrm>
          <a:prstGeom prst="line">
            <a:avLst/>
          </a:prstGeom>
          <a:noFill/>
          <a:ln w="2540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4892040"/>
            <a:ext cx="2633472" cy="685800"/>
          </a:xfrm>
          <a:prstGeom prst="roundRect">
            <a:avLst>
              <a:gd name="adj" fmla="val 16000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892040"/>
            <a:ext cx="2450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TCP sockets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3364992" y="4892040"/>
            <a:ext cx="2633472" cy="685800"/>
          </a:xfrm>
          <a:prstGeom prst="roundRect">
            <a:avLst>
              <a:gd name="adj" fmla="val 16000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56432" y="4892040"/>
            <a:ext cx="2450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binary length-prefixed formats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181344" y="4892040"/>
            <a:ext cx="2633472" cy="685800"/>
          </a:xfrm>
          <a:prstGeom prst="roundRect">
            <a:avLst>
              <a:gd name="adj" fmla="val 16000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72784" y="4892040"/>
            <a:ext cx="2450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Ed25519-signed requests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8997696" y="4892040"/>
            <a:ext cx="2633472" cy="685800"/>
          </a:xfrm>
          <a:prstGeom prst="roundRect">
            <a:avLst>
              <a:gd name="adj" fmla="val 16000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089136" y="4892040"/>
            <a:ext cx="2450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TLS dependency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Eight design decisions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choice for each question of Section 7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C8A5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Passwords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9260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Argon2id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3383280" y="169164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11880" y="187452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C247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Documents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9260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AES-256-GCM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217920" y="169164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187452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C8A5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Public-key crypto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9260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X25519 + Ed25519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9052560" y="169164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1160" y="187452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C247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trust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29260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TOFU + safety number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548640" y="393192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148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C8A5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MAC vs signature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1663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GCM tag + Ed25519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3383280" y="393192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611880" y="41148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C247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2800" dirty="0"/>
          </a:p>
        </p:txBody>
      </p:sp>
      <p:sp>
        <p:nvSpPr>
          <p:cNvPr id="27" name="Text 25"/>
          <p:cNvSpPr txBox="1"/>
          <p:nvPr/>
        </p:nvSpPr>
        <p:spPr>
          <a:xfrm>
            <a:off x="3611880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Freshness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3611880" y="51663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version · nonce · challenge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6217920" y="393192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46520" y="41148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C8A5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280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Architecture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6446520" y="51663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sockets + binary formats</a:t>
            </a:r>
            <a:endParaRPr lang="en-US" sz="1550" dirty="0"/>
          </a:p>
        </p:txBody>
      </p:sp>
      <p:sp>
        <p:nvSpPr>
          <p:cNvPr id="33" name="Shape 31"/>
          <p:cNvSpPr/>
          <p:nvPr/>
        </p:nvSpPr>
        <p:spPr>
          <a:xfrm>
            <a:off x="9052560" y="3931920"/>
            <a:ext cx="2606040" cy="2011680"/>
          </a:xfrm>
          <a:prstGeom prst="roundRect">
            <a:avLst>
              <a:gd name="adj" fmla="val 5455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281160" y="41148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C247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2800" dirty="0"/>
          </a:p>
        </p:txBody>
      </p:sp>
      <p:sp>
        <p:nvSpPr>
          <p:cNvPr id="35" name="Text 33"/>
          <p:cNvSpPr txBox="1"/>
          <p:nvPr/>
        </p:nvSpPr>
        <p:spPr>
          <a:xfrm>
            <a:off x="9281160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Sessions</a:t>
            </a:r>
            <a:endParaRPr lang="en-US" sz="1900" dirty="0"/>
          </a:p>
        </p:txBody>
      </p:sp>
      <p:sp>
        <p:nvSpPr>
          <p:cNvPr id="36" name="Text 34"/>
          <p:cNvSpPr txBox="1"/>
          <p:nvPr/>
        </p:nvSpPr>
        <p:spPr>
          <a:xfrm>
            <a:off x="9281160" y="51663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tokens; signed requests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Decision 1 · Password protection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Assume the attacker has stolen the entire database</a:t>
            </a:r>
            <a:endParaRPr lang="en-US" sz="1700" dirty="0"/>
          </a:p>
        </p:txBody>
      </p:sp>
      <p:pic>
        <p:nvPicPr>
          <p:cNvPr id="5" name="Image 0" descr="C:\Users\rwtc\AppData\Local\Temp\claude\C--Users-rwtc-OneDrive-Desktop-taraf-al-khait\259a8f67-0c60-48d8-b28e-79f9054fef07\scratchpad\deck39\assets\attacker_in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2452838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108960" y="1691640"/>
            <a:ext cx="8503920" cy="3063240"/>
          </a:xfrm>
          <a:prstGeom prst="roundRect">
            <a:avLst>
              <a:gd name="adj" fmla="val 3582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83280" y="187452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should be expensive?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2423160"/>
            <a:ext cx="7955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attacker has every salt and every stored verifier.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algorithm is public (Kerckhoffs's principle).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only practical attack left is offline guessing.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cannot stop guessing, so we make every guess expensive.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4937760"/>
            <a:ext cx="5440680" cy="777240"/>
          </a:xfrm>
          <a:prstGeom prst="roundRect">
            <a:avLst>
              <a:gd name="adj" fmla="val 14118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4937760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server computes one password hash per login.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4937760"/>
            <a:ext cx="5440680" cy="777240"/>
          </a:xfrm>
          <a:prstGeom prst="roundRect">
            <a:avLst>
              <a:gd name="adj" fmla="val 14118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55080" y="4937760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attacker computes millions or billions, often on GPU or ASIC hardware.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C247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Goal: remove the attacker's parallel-hardware advantage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Argon2id?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Memory-hardness makes the attack cost depend on RAM, not only on compute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108960" cy="4206240"/>
          </a:xfrm>
          <a:prstGeom prst="roundRect">
            <a:avLst>
              <a:gd name="adj" fmla="val 3529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47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C8A5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CHOSEN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21408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Argon2id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2560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memory-hard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independent m, t and p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modern standard (RFC 9106)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strong library implementation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raw output feeds our key hierarchy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840480" y="1645920"/>
            <a:ext cx="2468880" cy="4206240"/>
          </a:xfrm>
          <a:prstGeom prst="roundRect">
            <a:avLst>
              <a:gd name="adj" fmla="val 4444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14800" y="1847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7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REJECTED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2121408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PBKDF2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2971800"/>
            <a:ext cx="1920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 memory-hard.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GPU and ASIC parallelism remain strong.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2240" y="1645920"/>
            <a:ext cx="2468880" cy="4206240"/>
          </a:xfrm>
          <a:prstGeom prst="roundRect">
            <a:avLst>
              <a:gd name="adj" fmla="val 4444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0" y="1847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7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REJECTED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121408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bcrypt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2971800"/>
            <a:ext cx="1920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Only about 4 KiB of memory.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72-byte password limit.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Poor fit for key derivation.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144000" y="1645920"/>
            <a:ext cx="2468880" cy="4206240"/>
          </a:xfrm>
          <a:prstGeom prst="roundRect">
            <a:avLst>
              <a:gd name="adj" fmla="val 4444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18320" y="1847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7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REJECTED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418320" y="2121408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scrypt / custom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9418320" y="2971800"/>
            <a:ext cx="1920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scrypt: memory and time are coupled; TMTO.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Custom KDF: roll-your-own crypto.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Argon2id parameters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Measured so one verification takes about half a second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C8A5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MEMORY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 = 384 MiB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2918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defence against massive GPU parallelism.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383280" y="1737360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11880" y="1920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47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331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 = 3 passes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32918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Raises the cost of every single guess.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1737360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1920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C8A5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PARALLELISM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2331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 = 4</a:t>
            </a:r>
            <a:endParaRPr lang="en-US" sz="25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32918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Uses available CPU cores during a legitimate login.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052560" y="1737360"/>
            <a:ext cx="2606040" cy="3383280"/>
          </a:xfrm>
          <a:prstGeom prst="roundRect">
            <a:avLst>
              <a:gd name="adj" fmla="val 4211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1160" y="1920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247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SALT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331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 random bytes</a:t>
            </a:r>
            <a:endParaRPr lang="en-US" sz="25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329184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Unique per account; stored in the clear.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544068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Measured on our machine: about 0.47 s per hash (tools/bench_password_hash.py)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hierarchy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password, separated into keys with different jobs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Password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50" i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user remembers it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2944368" y="2514600"/>
            <a:ext cx="329184" cy="0"/>
          </a:xfrm>
          <a:prstGeom prst="line">
            <a:avLst/>
          </a:prstGeom>
          <a:noFill/>
          <a:ln w="2540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91840" y="18288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Argon2id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50" i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 master secret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5687568" y="2514600"/>
            <a:ext cx="329184" cy="0"/>
          </a:xfrm>
          <a:prstGeom prst="line">
            <a:avLst/>
          </a:prstGeom>
          <a:noFill/>
          <a:ln w="2540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035040" y="182880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2648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HKDF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50" i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separation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8430768" y="2194560"/>
            <a:ext cx="457200" cy="0"/>
          </a:xfrm>
          <a:prstGeom prst="line">
            <a:avLst/>
          </a:prstGeom>
          <a:noFill/>
          <a:ln w="2540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430768" y="2834640"/>
            <a:ext cx="457200" cy="0"/>
          </a:xfrm>
          <a:prstGeom prst="line">
            <a:avLst/>
          </a:prstGeom>
          <a:noFill/>
          <a:ln w="2540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961120" y="1645920"/>
            <a:ext cx="2651760" cy="868680"/>
          </a:xfrm>
          <a:prstGeom prst="roundRect">
            <a:avLst>
              <a:gd name="adj" fmla="val 12632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52560" y="167335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auth_key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9052560" y="20756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server may store it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961120" y="2651760"/>
            <a:ext cx="2651760" cy="868680"/>
          </a:xfrm>
          <a:prstGeom prst="roundRect">
            <a:avLst>
              <a:gd name="adj" fmla="val 12632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052560" y="267919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enc_key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9052560" y="30815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never leaves the client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0287000" y="3538728"/>
            <a:ext cx="0" cy="548640"/>
          </a:xfrm>
          <a:prstGeom prst="line">
            <a:avLst/>
          </a:prstGeom>
          <a:noFill/>
          <a:ln w="2540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035040" y="4160520"/>
            <a:ext cx="5577840" cy="1143000"/>
          </a:xfrm>
          <a:prstGeom prst="roundRect">
            <a:avLst>
              <a:gd name="adj" fmla="val 9600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17920" y="425196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Encrypted private-key blob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46634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X25519 + Ed25519 private keys, sealed with AES-GCM under enc_key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20624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two keys? The server holds auth_key. If that same key could open the private keys, the server could read every document.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HKDF appears twice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Same tool, two different jobs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94960" cy="3749040"/>
          </a:xfrm>
          <a:prstGeom prst="roundRect">
            <a:avLst>
              <a:gd name="adj" fmla="val 2927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Login context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688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Password → Argon2id → master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master → HKDF("auth") → auth_key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master → HKDF("enc") → enc_key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690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Purpose: key separation. Compromising one role never reuses the same key for another.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394960" cy="3749040"/>
          </a:xfrm>
          <a:prstGeom prst="roundRect">
            <a:avLst>
              <a:gd name="adj" fmla="val 2927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Sharing context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46888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X25519 → shared secret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shared secret → HKDF("SecureVault key grant v1") → wrap key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40690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Purpose: derive a clean, context-bound AES key that protects the DEK inside the grant.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566928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HKDF = Extract + Expand + context label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Decision 2 · Document encryption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document version gets a fresh random Data Encryption Key (DEK)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4023360" cy="3840480"/>
          </a:xfrm>
          <a:prstGeom prst="roundRect">
            <a:avLst>
              <a:gd name="adj" fmla="val 2857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470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C8A5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CHOSEN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21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AES-256-GCM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primitive gives confidentiality and integrity.</a:t>
            </a:r>
            <a:endParaRPr lang="en-US" sz="15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32-byte random DEK</a:t>
            </a:r>
            <a:endParaRPr lang="en-US" sz="15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12-byte random nonce</a:t>
            </a:r>
            <a:endParaRPr lang="en-US" sz="15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metadata authenticated as AAD</a:t>
            </a:r>
            <a:endParaRPr lang="en-US" sz="15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tag checked before plaintext is accepted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4754880" y="1645920"/>
            <a:ext cx="2697480" cy="3840480"/>
          </a:xfrm>
          <a:prstGeom prst="roundRect">
            <a:avLst>
              <a:gd name="adj" fmla="val 4068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0" y="18470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7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REJECTED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212140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CBC + HMAC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29718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Secure if composed correctly, but more moving parts and more room for mistakes.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635240" y="1645920"/>
            <a:ext cx="2697480" cy="3840480"/>
          </a:xfrm>
          <a:prstGeom prst="roundRect">
            <a:avLst>
              <a:gd name="adj" fmla="val 4068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09560" y="18470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7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REJECTED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909560" y="2121408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ChaCha20-Poly1305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7909560" y="2971800"/>
            <a:ext cx="2148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Also excellent, but AES is the course cipher and our implementation and testing focus there.</a:t>
            </a:r>
            <a:endParaRPr lang="en-US" sz="1500" dirty="0"/>
          </a:p>
        </p:txBody>
      </p:sp>
      <p:pic>
        <p:nvPicPr>
          <p:cNvPr id="17" name="Image 0" descr="C:\Users\rwtc\AppData\Local\Temp\claude\C--Users-rwtc-OneDrive-Desktop-taraf-al-khait\259a8f67-0c60-48d8-b28e-79f9054fef07\scratchpad\deck39\assets\layla_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2011680"/>
            <a:ext cx="1625203" cy="228600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548640" y="571500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57150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fresh DEK per version makes nonce reuse impossible, even after a crash or restart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Metadata binding with AAD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Metadata can stay readable without becoming modifiable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291840" cy="4160520"/>
          </a:xfrm>
          <a:prstGeom prst="roundRect">
            <a:avLst>
              <a:gd name="adj" fmla="val 3333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Metadata header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7744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file name</a:t>
            </a:r>
            <a:endParaRPr lang="en-US" sz="16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file type</a:t>
            </a:r>
            <a:endParaRPr lang="en-US" sz="16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size</a:t>
            </a:r>
            <a:endParaRPr lang="en-US" sz="16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timestamp</a:t>
            </a:r>
            <a:endParaRPr lang="en-US" sz="16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owner</a:t>
            </a:r>
            <a:endParaRPr lang="en-US" sz="16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version</a:t>
            </a:r>
            <a:endParaRPr lang="en-US" sz="16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6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document ID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931920" y="3749040"/>
            <a:ext cx="365760" cy="0"/>
          </a:xfrm>
          <a:prstGeom prst="line">
            <a:avLst/>
          </a:prstGeom>
          <a:noFill/>
          <a:ln w="2540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389120" y="1691640"/>
            <a:ext cx="3291840" cy="4160520"/>
          </a:xfrm>
          <a:prstGeom prst="roundRect">
            <a:avLst>
              <a:gd name="adj" fmla="val 3333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7720" y="1828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AES-GCM AAD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423160"/>
            <a:ext cx="28346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AAD is not encrypted.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But the GCM tag covers it cryptographically.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772400" y="3749040"/>
            <a:ext cx="365760" cy="0"/>
          </a:xfrm>
          <a:prstGeom prst="line">
            <a:avLst/>
          </a:prstGeom>
          <a:noFill/>
          <a:ln w="2540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229600" y="1691640"/>
            <a:ext cx="3383280" cy="4160520"/>
          </a:xfrm>
          <a:prstGeom prst="roundRect">
            <a:avLst>
              <a:gd name="adj" fmla="val 3243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58200" y="182880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 the attacker renames it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2423160"/>
            <a:ext cx="2011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ciphertext may be unchanged, but the tag no longer verifies.</a:t>
            </a:r>
            <a:endParaRPr lang="en-US" sz="1600" dirty="0"/>
          </a:p>
        </p:txBody>
      </p:sp>
      <p:pic>
        <p:nvPicPr>
          <p:cNvPr id="16" name="Image 0" descr="C:\Users\rwtc\AppData\Local\Temp\claude\C--Users-rwtc-OneDrive-Desktop-taraf-al-khait\259a8f67-0c60-48d8-b28e-79f9054fef07\scratchpad\deck39\assets\attacker_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3063240"/>
            <a:ext cx="966730" cy="123444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458200" y="50749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C247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Result: rejected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Decision 3 · Public-key cryptography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agreement and digital signatures are kept separate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X25519 · key agreement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231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i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Diffie–Hellman on Curve25519.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036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Layla combines her ephemeral private key with Omar's static public key.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Omar later combines his private key with Layla's ephemeral public key.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Both derive the same shared secret.</a:t>
            </a:r>
            <a:endParaRPr lang="en-US" sz="1600" dirty="0"/>
          </a:p>
        </p:txBody>
      </p:sp>
      <p:pic>
        <p:nvPicPr>
          <p:cNvPr id="9" name="Image 0" descr="C:\Users\rwtc\AppData\Local\Temp\claude\C--Users-rwtc-OneDrive-Desktop-taraf-al-khait\259a8f67-0c60-48d8-b28e-79f9054fef07\scratchpad\deck39\assets\layla_th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43400" y="3840480"/>
            <a:ext cx="1259006" cy="18745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217920" y="169164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9224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Ed25519 · signatures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242316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Layla signs with her private key.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Omar verifies with Layla's public key.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Used for document origin, grants and every client → server request.</a:t>
            </a:r>
            <a:endParaRPr lang="en-US" sz="1600" dirty="0"/>
          </a:p>
        </p:txBody>
      </p:sp>
      <p:pic>
        <p:nvPicPr>
          <p:cNvPr id="13" name="Image 1" descr="C:\Users\rwtc\AppData\Local\Temp\claude\C--Users-rwtc-OneDrive-Desktop-taraf-al-khait\259a8f67-0c60-48d8-b28e-79f9054fef07\scratchpad\deck39\assets\omar_re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3840480"/>
            <a:ext cx="1272215" cy="1874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X25519 + Ed25519 instead of RSA?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Same ~128-bit security target, much smaller keys and faster operations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we chose ECC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97480"/>
            <a:ext cx="30175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32-byte public keys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64-byte signatures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no per-signature random nonce in Ed25519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no invalid-curve checks to forget in X25519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modern, compact and well studied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97680" y="169164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1874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Measured comparison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697480"/>
            <a:ext cx="30175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RSA-3072 key generation ≈ 8,900× slower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RSA key agreement ≈ 73× slower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RSA signing ≈ 100× slower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RSA verification ≈ comparable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0" y="169164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8745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not one ECC key for both?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697480"/>
            <a:ext cx="30175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separation again.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X25519 keys establish secrets.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Ed25519 keys prove origin.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 primitives, different purposes.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Decision 4 · Public-key trust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Encryption is useless if Layla encrypts to the attacker's public key</a:t>
            </a:r>
            <a:endParaRPr lang="en-US" sz="1700" dirty="0"/>
          </a:p>
        </p:txBody>
      </p:sp>
      <p:pic>
        <p:nvPicPr>
          <p:cNvPr id="5" name="Image 0" descr="C:\Users\rwtc\AppData\Local\Temp\claude\C--Users-rwtc-OneDrive-Desktop-taraf-al-khait\259a8f67-0c60-48d8-b28e-79f9054fef07\scratchpad\deck39\assets\layla_boo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1517251" cy="2103120"/>
          </a:xfrm>
          <a:prstGeom prst="rect">
            <a:avLst/>
          </a:prstGeom>
        </p:spPr>
      </p:pic>
      <p:pic>
        <p:nvPicPr>
          <p:cNvPr id="6" name="Image 1" descr="C:\Users\rwtc\AppData\Local\Temp\claude\C--Users-rwtc-OneDrive-Desktop-taraf-al-khait\259a8f67-0c60-48d8-b28e-79f9054fef07\scratchpad\deck39\assets\attacker_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645920"/>
            <a:ext cx="1794053" cy="2057400"/>
          </a:xfrm>
          <a:prstGeom prst="rect">
            <a:avLst/>
          </a:prstGeom>
        </p:spPr>
      </p:pic>
      <p:pic>
        <p:nvPicPr>
          <p:cNvPr id="7" name="Image 2" descr="C:\Users\rwtc\AppData\Local\Temp\claude\C--Users-rwtc-OneDrive-Desktop-taraf-al-khait\259a8f67-0c60-48d8-b28e-79f9054fef07\scratchpad\deck39\assets\omar_th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1645920"/>
            <a:ext cx="1515077" cy="210312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2971800" y="2697480"/>
            <a:ext cx="1920240" cy="0"/>
          </a:xfrm>
          <a:prstGeom prst="line">
            <a:avLst/>
          </a:prstGeom>
          <a:noFill/>
          <a:ln w="2540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9" name="Shape 4"/>
          <p:cNvSpPr/>
          <p:nvPr/>
        </p:nvSpPr>
        <p:spPr>
          <a:xfrm>
            <a:off x="7406640" y="2697480"/>
            <a:ext cx="2103120" cy="0"/>
          </a:xfrm>
          <a:prstGeom prst="line">
            <a:avLst/>
          </a:prstGeom>
          <a:noFill/>
          <a:ln w="2540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0" name="Text 5"/>
          <p:cNvSpPr txBox="1"/>
          <p:nvPr/>
        </p:nvSpPr>
        <p:spPr>
          <a:xfrm>
            <a:off x="2971800" y="224028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asks for Omar's key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740664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hands over its own key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548640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2960" y="39776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MWITM problem: if the server substitutes Omar's key, Layla could create a perfectly encrypted grant for the wrong person.</a:t>
            </a:r>
            <a:endParaRPr lang="en-US" sz="1800" dirty="0"/>
          </a:p>
        </p:txBody>
      </p:sp>
      <p:sp>
        <p:nvSpPr>
          <p:cNvPr id="14" name="Shape 9"/>
          <p:cNvSpPr/>
          <p:nvPr/>
        </p:nvSpPr>
        <p:spPr>
          <a:xfrm>
            <a:off x="548640" y="53492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5349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need an authenticated binding:  Omar  ↔  Omar's public keys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Chosen trust model · TOFU + safety number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server may introduce keys, but it cannot silently replace a verified one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60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First contact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client fetches the key and stores it as UNVERIFIED. No sensitive sharing yet.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83280" y="169164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1880" y="19202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2560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01752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Both users compare a 20-digit safety number by phone or in person.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169164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19202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2560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Verify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301752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Only after the numbers match does the contact become VERIFIED.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052560" y="169164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81160" y="19202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8116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281160" y="2560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Pin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281160" y="301752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 the server later presents a different key: hard block, no "continue anyway".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48640" y="53492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349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Safety number = SHA-256(sorted identities: names + X25519 keys + Ed25519 keys) → 20 digits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not the other trust models?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strongest option is not always the right one for this project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200400" cy="4206240"/>
          </a:xfrm>
          <a:prstGeom prst="roundRect">
            <a:avLst>
              <a:gd name="adj" fmla="val 3429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470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7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REJECTED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214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Certificate authority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2651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Strong centralised identity, but needs certificate issuance, validation and CA infrastructure beyond our scope; a CA run by the server would be the untrusted party.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977640" y="1645920"/>
            <a:ext cx="3200400" cy="4206240"/>
          </a:xfrm>
          <a:prstGeom prst="roundRect">
            <a:avLst>
              <a:gd name="adj" fmla="val 3429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51960" y="18470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47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REJECTED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21214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Pure TOFU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4251960" y="2971800"/>
            <a:ext cx="2651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Easy, but the very first connection can be attacked with no user-visible verification.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7406640" y="1645920"/>
            <a:ext cx="2926080" cy="4206240"/>
          </a:xfrm>
          <a:prstGeom prst="roundRect">
            <a:avLst>
              <a:gd name="adj" fmla="val 3750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680960" y="18470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C8A5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CHOSEN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TOFU + out-of-band check</a:t>
            </a:r>
            <a:endParaRPr lang="en-US" sz="21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2971800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Needs no infrastructure; the safety number closes the first-contact gap once users compare it.</a:t>
            </a:r>
            <a:endParaRPr lang="en-US" sz="1550" dirty="0"/>
          </a:p>
        </p:txBody>
      </p:sp>
      <p:pic>
        <p:nvPicPr>
          <p:cNvPr id="17" name="Image 0" descr="C:\Users\rwtc\AppData\Local\Temp\claude\C--Users-rwtc-OneDrive-Desktop-taraf-al-khait\259a8f67-0c60-48d8-b28e-79f9054fef07\scratchpad\deck39\assets\omar_ch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69880" y="3474720"/>
            <a:ext cx="1487032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Decision 5 · MAC vs digital signature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solve different problems, so we use both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GCM tag · MAC-style authentication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Shared symmetric key.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346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detects ciphertext tampering</a:t>
            </a:r>
            <a:endParaRPr lang="en-US" sz="16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authenticates the AAD</a:t>
            </a:r>
            <a:endParaRPr lang="en-US" sz="16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fast and automatic with AES-GCM</a:t>
            </a:r>
            <a:endParaRPr lang="en-US" sz="16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✗ cannot prove which key holder created it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224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Ed25519 signature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377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Only Layla holds Layla's signing key.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8346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proves data origin</a:t>
            </a:r>
            <a:endParaRPr lang="en-US" sz="16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verifiable by a third party</a:t>
            </a:r>
            <a:endParaRPr lang="en-US" sz="16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supports non-repudiation</a:t>
            </a:r>
            <a:endParaRPr lang="en-US" sz="16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binds file, metadata and recipient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548640" y="55778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55778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longer tag does not give non-repudiation: the problem is that the key is shared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exactly does Layla sign?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signature binds the proof to this file, this version and this recipient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084832" cy="2651760"/>
          </a:xfrm>
          <a:prstGeom prst="roundRect">
            <a:avLst>
              <a:gd name="adj" fmla="val 5263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01168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3C8A5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DOMAIN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18105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"SVS1"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93492" y="1828800"/>
            <a:ext cx="2084832" cy="2651760"/>
          </a:xfrm>
          <a:prstGeom prst="roundRect">
            <a:avLst>
              <a:gd name="adj" fmla="val 5263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30652" y="201168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C247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DOCUMENT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930652" y="2606040"/>
            <a:ext cx="18105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doc_id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version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038344" y="1828800"/>
            <a:ext cx="2084832" cy="2651760"/>
          </a:xfrm>
          <a:prstGeom prst="roundRect">
            <a:avLst>
              <a:gd name="adj" fmla="val 5263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201168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3C8A5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IDENTITY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175504" y="2606040"/>
            <a:ext cx="18105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sender = Layla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recipient = Omar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283196" y="1828800"/>
            <a:ext cx="2084832" cy="2651760"/>
          </a:xfrm>
          <a:prstGeom prst="roundRect">
            <a:avLst>
              <a:gd name="adj" fmla="val 5263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20356" y="201168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C247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METADATA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420356" y="2606040"/>
            <a:ext cx="18105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SHA-256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(metadata)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528048" y="1828800"/>
            <a:ext cx="2084832" cy="2651760"/>
          </a:xfrm>
          <a:prstGeom prst="roundRect">
            <a:avLst>
              <a:gd name="adj" fmla="val 5263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65208" y="201168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3C8A5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665208" y="2606040"/>
            <a:ext cx="18105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SHA-256(file)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663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Byte order:  "SVS1" ‖ doc_id ‖ version ‖ sender ‖ recipient ‖ SHA-256(metadata) ‖ SHA-256(file)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53492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5349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signature is encrypted inside Omar's grant, so the server cannot use it to test guesses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Decision 6 · Freshness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valid signature can still be an old replay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Document version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6888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version increases with every upload.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client remembers the last version and fingerprint it saw.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older version → stale.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97680" y="169164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1874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Request nonce + time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46888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request carries a random 16-byte nonce and a timestamp.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server accepts ±5 minutes and remembers recent nonces.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0" y="169164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874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Login challenge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46888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server sends 32 fresh random bytes.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client returns HMAC(auth_key, challenge).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Each challenge is single-use.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Decision 8 · Why no session tokens?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request authenticates itself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7223760" cy="3383280"/>
          </a:xfrm>
          <a:prstGeom prst="roundRect">
            <a:avLst>
              <a:gd name="adj" fmla="val 3243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client → server request is signed with Ed25519.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signed bytes cover the message type, username, timestamp, nonce and body.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server checks the stored public key, the freshness window and nonce uniqueness.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captured request cannot be edited, and an exact replay is rejected.</a:t>
            </a:r>
            <a:endParaRPr lang="en-US" sz="1700" dirty="0"/>
          </a:p>
        </p:txBody>
      </p:sp>
      <p:pic>
        <p:nvPicPr>
          <p:cNvPr id="7" name="Image 0" descr="C:\Users\rwtc\AppData\Local\Temp\claude\C--Users-rwtc-OneDrive-Desktop-taraf-al-khait\259a8f67-0c60-48d8-b28e-79f9054fef07\scratchpad\deck39\assets\layla_typ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737360"/>
            <a:ext cx="2479986" cy="30175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539496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3949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this choice? A simpler protocol with no token lifecycle and no token to steal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Procedure · Upload (1/2)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Layla encrypts locally before the server sees a single byte of plaintext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057400" cy="3017520"/>
          </a:xfrm>
          <a:prstGeom prst="roundRect">
            <a:avLst>
              <a:gd name="adj" fmla="val 5333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96596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06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Choose file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63240"/>
            <a:ext cx="1600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thesis-draft.pdf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880360" y="1737360"/>
            <a:ext cx="2057400" cy="3017520"/>
          </a:xfrm>
          <a:prstGeom prst="roundRect">
            <a:avLst>
              <a:gd name="adj" fmla="val 5333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196596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10896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2606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Generate DEK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108960" y="3063240"/>
            <a:ext cx="1600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32 random bytes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212080" y="1737360"/>
            <a:ext cx="2057400" cy="3017520"/>
          </a:xfrm>
          <a:prstGeom prst="roundRect">
            <a:avLst>
              <a:gd name="adj" fmla="val 5333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40680" y="196596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068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2606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 metadata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440680" y="3063240"/>
            <a:ext cx="1600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· size · owner · version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543800" y="1737360"/>
            <a:ext cx="2057400" cy="3017520"/>
          </a:xfrm>
          <a:prstGeom prst="roundRect">
            <a:avLst>
              <a:gd name="adj" fmla="val 5333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0" y="196596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2606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Generate nonce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0" y="3063240"/>
            <a:ext cx="1600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random bytes</a:t>
            </a:r>
            <a:endParaRPr lang="en-US" sz="1500" dirty="0"/>
          </a:p>
        </p:txBody>
      </p:sp>
      <p:pic>
        <p:nvPicPr>
          <p:cNvPr id="25" name="Image 0" descr="C:\Users\rwtc\AppData\Local\Temp\claude\C--Users-rwtc-OneDrive-Desktop-taraf-al-khait\259a8f67-0c60-48d8-b28e-79f9054fef07\scratchpad\deck39\assets\layla_lap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0" y="1920240"/>
            <a:ext cx="1928553" cy="265176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548640" y="525780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52578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Everything on this slide happens on Layla's client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Procedure · Upload (2/2)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Now the encrypted object is safe to leave Layla's device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60320" cy="3017520"/>
          </a:xfrm>
          <a:prstGeom prst="roundRect">
            <a:avLst>
              <a:gd name="adj" fmla="val 4286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96596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AES-256-GCM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6324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plaintext + DEK + nonce; metadata = AAD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83280" y="1737360"/>
            <a:ext cx="2560320" cy="3017520"/>
          </a:xfrm>
          <a:prstGeom prst="roundRect">
            <a:avLst>
              <a:gd name="adj" fmla="val 4286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1880" y="196596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Create self-grant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06324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 Layla can recover her own DEK later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1737360"/>
            <a:ext cx="2560320" cy="3017520"/>
          </a:xfrm>
          <a:prstGeom prst="roundRect">
            <a:avLst>
              <a:gd name="adj" fmla="val 4286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196596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Sign request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306324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Ed25519 + timestamp + nonce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052560" y="1737360"/>
            <a:ext cx="2560320" cy="3017520"/>
          </a:xfrm>
          <a:prstGeom prst="roundRect">
            <a:avLst>
              <a:gd name="adj" fmla="val 4286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81160" y="196596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8116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28116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Server checks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281160" y="306324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signature · freshness · owner · version + 1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48640" y="525780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2578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server stores: metadata header + nonce + ciphertext + GCM tag + grants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Procedure · Share (1/3)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Layla and Omar derive the same secret without sending any private key</a:t>
            </a:r>
            <a:endParaRPr lang="en-US" sz="1700" dirty="0"/>
          </a:p>
        </p:txBody>
      </p:sp>
      <p:pic>
        <p:nvPicPr>
          <p:cNvPr id="5" name="Image 0" descr="C:\Users\rwtc\AppData\Local\Temp\claude\C--Users-rwtc-OneDrive-Desktop-taraf-al-khait\259a8f67-0c60-48d8-b28e-79f9054fef07\scratchpad\deck39\assets\layla_th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1228299" cy="1828800"/>
          </a:xfrm>
          <a:prstGeom prst="rect">
            <a:avLst/>
          </a:prstGeom>
        </p:spPr>
      </p:pic>
      <p:pic>
        <p:nvPicPr>
          <p:cNvPr id="6" name="Image 1" descr="C:\Users\rwtc\AppData\Local\Temp\claude\C--Users-rwtc-OneDrive-Desktop-taraf-al-khait\259a8f67-0c60-48d8-b28e-79f9054fef07\scratchpad\deck39\assets\omar_ide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1600200"/>
            <a:ext cx="1300348" cy="1828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3611880"/>
            <a:ext cx="4023360" cy="1737360"/>
          </a:xfrm>
          <a:prstGeom prst="roundRect">
            <a:avLst>
              <a:gd name="adj" fmla="val 6316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37033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Layla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416052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fresh ephemeral X25519 private key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 Omar's verified public key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7589520" y="3611880"/>
            <a:ext cx="4023360" cy="1737360"/>
          </a:xfrm>
          <a:prstGeom prst="roundRect">
            <a:avLst>
              <a:gd name="adj" fmla="val 6316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818120" y="37033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Omar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818120" y="416052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static X25519 private key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 Layla's ephemeral public key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663440" y="4480560"/>
            <a:ext cx="457200" cy="0"/>
          </a:xfrm>
          <a:prstGeom prst="line">
            <a:avLst/>
          </a:prstGeom>
          <a:noFill/>
          <a:ln w="2540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7040880" y="4480560"/>
            <a:ext cx="457200" cy="0"/>
          </a:xfrm>
          <a:prstGeom prst="line">
            <a:avLst/>
          </a:prstGeom>
          <a:noFill/>
          <a:ln w="25400">
            <a:solidFill>
              <a:srgbClr val="6B6570"/>
            </a:solidFill>
            <a:prstDash val="solid"/>
            <a:headEnd type="triangle"/>
          </a:ln>
        </p:spPr>
      </p:sp>
      <p:sp>
        <p:nvSpPr>
          <p:cNvPr id="15" name="Shape 11"/>
          <p:cNvSpPr/>
          <p:nvPr/>
        </p:nvSpPr>
        <p:spPr>
          <a:xfrm>
            <a:off x="5212080" y="3611880"/>
            <a:ext cx="1783080" cy="1737360"/>
          </a:xfrm>
          <a:prstGeom prst="roundRect">
            <a:avLst>
              <a:gd name="adj" fmla="val 6316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257800" y="37490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X25519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5257800" y="416052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same shared secret S</a:t>
            </a:r>
            <a:endParaRPr lang="en-US" sz="1550" dirty="0"/>
          </a:p>
        </p:txBody>
      </p:sp>
      <p:sp>
        <p:nvSpPr>
          <p:cNvPr id="18" name="Shape 14"/>
          <p:cNvSpPr/>
          <p:nvPr/>
        </p:nvSpPr>
        <p:spPr>
          <a:xfrm>
            <a:off x="548640" y="562356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56235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Only public keys travel. Private keys never leave their owner.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Procedure · Share (2/3)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X25519 shared secret is not used directly as the AES wrapping key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834640" cy="3063240"/>
          </a:xfrm>
          <a:prstGeom prst="roundRect">
            <a:avLst>
              <a:gd name="adj" fmla="val 3871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Shared secret S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56032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Output of X25519.</a:t>
            </a:r>
            <a:endParaRPr lang="en-US" sz="15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Known only to Layla and Omar.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3410712" y="3291840"/>
            <a:ext cx="365760" cy="0"/>
          </a:xfrm>
          <a:prstGeom prst="line">
            <a:avLst/>
          </a:prstGeom>
          <a:noFill/>
          <a:ln w="2540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794760" y="1783080"/>
            <a:ext cx="2834640" cy="3063240"/>
          </a:xfrm>
          <a:prstGeom prst="roundRect">
            <a:avLst>
              <a:gd name="adj" fmla="val 3871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23360" y="1965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HKDF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256032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Extract + Expand</a:t>
            </a:r>
            <a:endParaRPr lang="en-US" sz="15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info = "SecureVault key grant v1"</a:t>
            </a:r>
            <a:endParaRPr lang="en-US" sz="15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binds the key to this purpose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656832" y="3291840"/>
            <a:ext cx="365760" cy="0"/>
          </a:xfrm>
          <a:prstGeom prst="line">
            <a:avLst/>
          </a:prstGeom>
          <a:noFill/>
          <a:ln w="25400">
            <a:solidFill>
              <a:srgbClr val="6B657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040880" y="1783080"/>
            <a:ext cx="2834640" cy="3063240"/>
          </a:xfrm>
          <a:prstGeom prst="roundRect">
            <a:avLst>
              <a:gd name="adj" fmla="val 3871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69480" y="1965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 key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7269480" y="256032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5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32-byte symmetric key used only to encrypt this recipient's grant.</a:t>
            </a:r>
            <a:endParaRPr lang="en-US" sz="1550" dirty="0"/>
          </a:p>
        </p:txBody>
      </p:sp>
      <p:pic>
        <p:nvPicPr>
          <p:cNvPr id="16" name="Image 0" descr="C:\Users\rwtc\AppData\Local\Temp\claude\C--Users-rwtc-OneDrive-Desktop-taraf-al-khait\259a8f67-0c60-48d8-b28e-79f9054fef07\scratchpad\deck39\assets\omar_appro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1874520"/>
            <a:ext cx="1726324" cy="25146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548640" y="53492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5349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HKDF? Key derivation + context separation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Procedure · Share (3/3)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Layla sends Omar the DEK, but only inside an authenticated, encrypted grant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60320" cy="3017520"/>
          </a:xfrm>
          <a:prstGeom prst="roundRect">
            <a:avLst>
              <a:gd name="adj" fmla="val 4286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96596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Sign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6324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doc_id · version · sender · recipient · metadata hash · file hash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83280" y="1737360"/>
            <a:ext cx="2560320" cy="3017520"/>
          </a:xfrm>
          <a:prstGeom prst="roundRect">
            <a:avLst>
              <a:gd name="adj" fmla="val 4286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11880" y="196596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Grant payload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06324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DEK + Ed25519 signature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1737360"/>
            <a:ext cx="2560320" cy="3017520"/>
          </a:xfrm>
          <a:prstGeom prst="roundRect">
            <a:avLst>
              <a:gd name="adj" fmla="val 4286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6520" y="196596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AES-GCM wrap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306324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encrypt the payload with the HKDF-derived wrap key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052560" y="1737360"/>
            <a:ext cx="2560320" cy="3017520"/>
          </a:xfrm>
          <a:prstGeom prst="roundRect">
            <a:avLst>
              <a:gd name="adj" fmla="val 4286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81160" y="196596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8116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28116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Store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281160" y="306324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server keeps Omar's opaque grant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48640" y="525780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2578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Each recipient gets a separate encrypted grant; the document itself is never re-encrypted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Procedure · Download (1/2)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Omar receives the ciphertext, the metadata and his encrypted grant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834640" cy="3383280"/>
          </a:xfrm>
          <a:prstGeom prst="roundRect">
            <a:avLst>
              <a:gd name="adj" fmla="val 3871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96596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06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Grant matches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632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doc_id · version · owner · recipient. A grant from another context is rejected.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0" y="1737360"/>
            <a:ext cx="2834640" cy="3383280"/>
          </a:xfrm>
          <a:prstGeom prst="roundRect">
            <a:avLst>
              <a:gd name="adj" fmla="val 3871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86200" y="196596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8620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886200" y="2606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Unwrap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886200" y="30632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Omar's X25519 private key + Layla's ephemeral public key → X25519 → HKDF → wrap key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766560" y="1737360"/>
            <a:ext cx="2834640" cy="3383280"/>
          </a:xfrm>
          <a:prstGeom prst="roundRect">
            <a:avLst>
              <a:gd name="adj" fmla="val 3871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95160" y="196596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9516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2606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Decrypt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995160" y="306324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AES-GCM with the DEK; the tag authenticates the ciphertext and the metadata AAD.</a:t>
            </a:r>
            <a:endParaRPr lang="en-US" sz="1500" dirty="0"/>
          </a:p>
        </p:txBody>
      </p:sp>
      <p:pic>
        <p:nvPicPr>
          <p:cNvPr id="20" name="Image 0" descr="C:\Users\rwtc\AppData\Local\Temp\claude\C--Users-rwtc-OneDrive-Desktop-taraf-al-khait\259a8f67-0c60-48d8-b28e-79f9054fef07\scratchpad\deck39\assets\omar_re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0" y="1920240"/>
            <a:ext cx="1799719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Procedure · Download (2/2)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Authenticity first, freshness last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4480560" cy="3291840"/>
          </a:xfrm>
          <a:prstGeom prst="roundRect">
            <a:avLst>
              <a:gd name="adj" fmla="val 3333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94767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Verify Layla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06040"/>
            <a:ext cx="4023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Rebuild the signed statement from the decrypted file and metadata.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Verify Ed25519 with Layla's pinned public key.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Failure → rejected.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257800" y="1691640"/>
            <a:ext cx="4480560" cy="3291840"/>
          </a:xfrm>
          <a:prstGeom prst="roundRect">
            <a:avLst>
              <a:gd name="adj" fmla="val 3333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19202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194767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Freshness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2606040"/>
            <a:ext cx="4023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the version and fingerprint with Omar's local history.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Older than last seen → stale replay.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New or expected → accept and save.</a:t>
            </a:r>
            <a:endParaRPr lang="en-US" sz="1600" dirty="0"/>
          </a:p>
        </p:txBody>
      </p:sp>
      <p:pic>
        <p:nvPicPr>
          <p:cNvPr id="15" name="Image 0" descr="C:\Users\rwtc\AppData\Local\Temp\claude\C--Users-rwtc-OneDrive-Desktop-taraf-al-khait\259a8f67-0c60-48d8-b28e-79f9054fef07\scratchpad\deck39\assets\omar_che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0" y="2103120"/>
            <a:ext cx="1718348" cy="23774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48640" y="530352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CDEFD7"/>
          </a:solidFill>
          <a:ln w="12700">
            <a:solidFill>
              <a:srgbClr val="CDEFD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53035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Strict order: grant → unwrap → decrypt / tag → signature → freshness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24712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the server knows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5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Metadata leakage is accepted; document content and private keys are not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AF7F9"/>
          </a:solidFill>
          <a:ln w="12700">
            <a:solidFill>
              <a:srgbClr val="FA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8A5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server can see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6888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usernames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public keys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file names, sizes and timestamps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who shared with whom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encrypted files and encrypted grants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auth_key verifier material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7C6D9"/>
          </a:solidFill>
          <a:ln w="12700">
            <a:solidFill>
              <a:srgbClr val="F7C6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247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server cannot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46888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✗ read document plaintext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✗ obtain DEKs from recipient grants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✗ decrypt private-key blobs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✗ forge Layla's signature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✗ silently replace a pinned, verified key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E2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✗ modify the AAD without breaking the tag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SecureVault</dc:title>
  <dc:subject>PptxGenJS Presentation</dc:subject>
  <dc:creator>PptxGenJS</dc:creator>
  <cp:lastModifiedBy>PptxGenJS</cp:lastModifiedBy>
  <cp:revision>1</cp:revision>
  <dcterms:created xsi:type="dcterms:W3CDTF">2026-09-27T20:51:00Z</dcterms:created>
  <dcterms:modified xsi:type="dcterms:W3CDTF">2026-09-27T20:51:00Z</dcterms:modified>
</cp:coreProperties>
</file>